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DM Sans" charset="1" panose="00000000000000000000"/>
      <p:regular r:id="rId27"/>
    </p:embeddedFont>
    <p:embeddedFont>
      <p:font typeface="DM Sans Bold" charset="1" panose="00000000000000000000"/>
      <p:regular r:id="rId28"/>
    </p:embeddedFont>
    <p:embeddedFont>
      <p:font typeface="Open Sans" charset="1" panose="020B06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45438" y="2122403"/>
            <a:ext cx="12993491" cy="466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5"/>
              </a:lnSpc>
            </a:pPr>
            <a:r>
              <a:rPr lang="en-US" sz="1018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Customers Reviews </a:t>
            </a:r>
          </a:p>
          <a:p>
            <a:pPr algn="l">
              <a:lnSpc>
                <a:spcPts val="9065"/>
              </a:lnSpc>
            </a:pPr>
            <a:r>
              <a:rPr lang="en-US" sz="1018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 </a:t>
            </a:r>
          </a:p>
          <a:p>
            <a:pPr algn="l">
              <a:lnSpc>
                <a:spcPts val="9065"/>
              </a:lnSpc>
            </a:pPr>
            <a:r>
              <a:rPr lang="en-US" sz="1018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Businus Hotel, Tunis</a:t>
            </a:r>
          </a:p>
          <a:p>
            <a:pPr algn="l">
              <a:lnSpc>
                <a:spcPts val="9065"/>
              </a:lnSpc>
            </a:pPr>
            <a:r>
              <a:rPr lang="en-US" sz="1018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Analysis</a:t>
            </a:r>
          </a:p>
        </p:txBody>
      </p:sp>
      <p:sp>
        <p:nvSpPr>
          <p:cNvPr name="AutoShape 3" id="3"/>
          <p:cNvSpPr/>
          <p:nvPr/>
        </p:nvSpPr>
        <p:spPr>
          <a:xfrm flipH="true" flipV="true">
            <a:off x="2387133" y="1565979"/>
            <a:ext cx="1632016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7164050" y="8810213"/>
            <a:ext cx="0" cy="1632016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72545" y="8760618"/>
            <a:ext cx="1089431" cy="865603"/>
          </a:xfrm>
          <a:custGeom>
            <a:avLst/>
            <a:gdLst/>
            <a:ahLst/>
            <a:cxnLst/>
            <a:rect r="r" b="b" t="t" l="l"/>
            <a:pathLst>
              <a:path h="865603" w="1089431">
                <a:moveTo>
                  <a:pt x="0" y="0"/>
                </a:moveTo>
                <a:lnTo>
                  <a:pt x="1089431" y="0"/>
                </a:lnTo>
                <a:lnTo>
                  <a:pt x="1089431" y="865603"/>
                </a:lnTo>
                <a:lnTo>
                  <a:pt x="0" y="865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45438" y="7523370"/>
            <a:ext cx="3309322" cy="210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313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By:</a:t>
            </a:r>
          </a:p>
          <a:p>
            <a:pPr algn="ctr">
              <a:lnSpc>
                <a:spcPts val="3352"/>
              </a:lnSpc>
            </a:pPr>
          </a:p>
          <a:p>
            <a:pPr algn="ctr">
              <a:lnSpc>
                <a:spcPts val="3352"/>
              </a:lnSpc>
            </a:pPr>
            <a:r>
              <a:rPr lang="en-US" sz="313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Ben Amor Hanine</a:t>
            </a:r>
          </a:p>
          <a:p>
            <a:pPr algn="ctr">
              <a:lnSpc>
                <a:spcPts val="3352"/>
              </a:lnSpc>
            </a:pPr>
            <a:r>
              <a:rPr lang="en-US" sz="3133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Cheriaa Nermine</a:t>
            </a:r>
          </a:p>
          <a:p>
            <a:pPr algn="ctr">
              <a:lnSpc>
                <a:spcPts val="3352"/>
              </a:lnSpc>
              <a:spcBef>
                <a:spcPct val="0"/>
              </a:spcBef>
            </a:pPr>
            <a:r>
              <a:rPr lang="en-US" b="true" sz="313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Logtari Mariem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933450" y="488026"/>
            <a:ext cx="0" cy="462985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5400000">
            <a:off x="6390622" y="-524299"/>
            <a:ext cx="8884097" cy="11284351"/>
            <a:chOff x="0" y="0"/>
            <a:chExt cx="11845463" cy="15045801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1699" t="0" r="1699" b="0"/>
            <a:stretch>
              <a:fillRect/>
            </a:stretch>
          </p:blipFill>
          <p:spPr>
            <a:xfrm flipH="false" flipV="false">
              <a:off x="0" y="0"/>
              <a:ext cx="11845463" cy="15045801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8041" y="1740677"/>
            <a:ext cx="4209824" cy="131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Décortiquons cet analyse en se basant sur le modèle CRISP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387500" y="4810623"/>
            <a:ext cx="1006565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296145" y="6804985"/>
            <a:ext cx="1006565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87500" y="1971983"/>
            <a:ext cx="4505500" cy="44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b="true" sz="3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1492" y="2694168"/>
            <a:ext cx="16283065" cy="197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3103"/>
              </a:lnSpc>
              <a:buFont typeface="Arial"/>
              <a:buChar char="•"/>
            </a:pPr>
            <a:r>
              <a:rPr lang="en-US" b="true" sz="29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Entité: Le "Business Hotel" (4*, Tunis - Montplaisir), ciblant une clientèle d'affaires.</a:t>
            </a:r>
          </a:p>
          <a:p>
            <a:pPr algn="l">
              <a:lnSpc>
                <a:spcPts val="3103"/>
              </a:lnSpc>
            </a:pPr>
          </a:p>
          <a:p>
            <a:pPr algn="l" marL="626111" indent="-313055" lvl="1">
              <a:lnSpc>
                <a:spcPts val="3103"/>
              </a:lnSpc>
              <a:buFont typeface="Arial"/>
              <a:buChar char="•"/>
            </a:pPr>
            <a:r>
              <a:rPr lang="en-US" b="true" sz="29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Enjeu: Dans le marché concurrentiel de l'hôtellerie en tuninse, l’hotel doir exploiter l’analyse des retours clients en ligne pour évaluer sa réputation</a:t>
            </a:r>
          </a:p>
          <a:p>
            <a:pPr algn="l">
              <a:lnSpc>
                <a:spcPts val="310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94189" y="5639610"/>
            <a:ext cx="16110368" cy="80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3103"/>
              </a:lnSpc>
              <a:buFont typeface="Arial"/>
              <a:buChar char="•"/>
            </a:pPr>
            <a:r>
              <a:rPr lang="en-US" b="true" sz="29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29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omprendre la répartition globale des sentiments</a:t>
            </a:r>
            <a:r>
              <a:rPr lang="en-US" b="true" sz="29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(Positif vs Négatif) pour prioriser les investissements.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1224" y="7521734"/>
            <a:ext cx="16463332" cy="275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</a:p>
          <a:p>
            <a:pPr algn="l" marL="625539" indent="-312769" lvl="1">
              <a:lnSpc>
                <a:spcPts val="3100"/>
              </a:lnSpc>
              <a:buFont typeface="Arial"/>
              <a:buChar char="•"/>
            </a:pPr>
            <a:r>
              <a:rPr lang="en-US" b="true" sz="2897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Approche:  Appliquer CRISP-DM pour </a:t>
            </a:r>
            <a:r>
              <a:rPr lang="en-US" b="true" sz="2897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Extr</a:t>
            </a:r>
            <a:r>
              <a:rPr lang="en-US" b="true" sz="2897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aire les données (craping) des plateformes d'avis (Booking, Google Maps). et Analyser les sentiments (Positif, Négatif, Neutre).</a:t>
            </a:r>
          </a:p>
          <a:p>
            <a:pPr algn="l">
              <a:lnSpc>
                <a:spcPts val="3100"/>
              </a:lnSpc>
            </a:pPr>
          </a:p>
          <a:p>
            <a:pPr algn="l" marL="625539" indent="-312769" lvl="1">
              <a:lnSpc>
                <a:spcPts val="3100"/>
              </a:lnSpc>
              <a:buFont typeface="Arial"/>
              <a:buChar char="•"/>
            </a:pPr>
            <a:r>
              <a:rPr lang="en-US" b="true" sz="2897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Résultat Atendu:  Un modèle de classification fiable (F1-score acceptable) permettant de mesurer la satisfaction globale des clients de l’hotel, les points forts et faibles .</a:t>
            </a:r>
          </a:p>
          <a:p>
            <a:pPr algn="l">
              <a:lnSpc>
                <a:spcPts val="31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94189" y="5172573"/>
            <a:ext cx="4505500" cy="44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b="true" sz="3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Problème Business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4189" y="7051453"/>
            <a:ext cx="9971866" cy="44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b="true" sz="3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Objec</a:t>
            </a:r>
            <a:r>
              <a:rPr lang="en-US" b="true" sz="31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tifs et critères de succès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7500" y="688012"/>
            <a:ext cx="16385075" cy="99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7"/>
              </a:lnSpc>
            </a:pPr>
            <a:r>
              <a:rPr lang="en-US" sz="79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Compréhension du metier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38059"/>
            <a:ext cx="8435553" cy="629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0"/>
              </a:lnSpc>
            </a:pPr>
            <a:r>
              <a:rPr lang="en-US" sz="11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Aquisition et compréhension des Donées</a:t>
            </a:r>
          </a:p>
        </p:txBody>
      </p:sp>
      <p:sp>
        <p:nvSpPr>
          <p:cNvPr name="AutoShape 3" id="3"/>
          <p:cNvSpPr/>
          <p:nvPr/>
        </p:nvSpPr>
        <p:spPr>
          <a:xfrm flipH="true">
            <a:off x="9144000" y="5117060"/>
            <a:ext cx="1764511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297787" y="2143035"/>
            <a:ext cx="5452589" cy="226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629" indent="-464314" lvl="1">
              <a:lnSpc>
                <a:spcPts val="6021"/>
              </a:lnSpc>
              <a:spcBef>
                <a:spcPct val="0"/>
              </a:spcBef>
              <a:buAutoNum type="arabicPeriod" startAt="1"/>
            </a:pPr>
            <a:r>
              <a:rPr lang="en-US" b="true" sz="4301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   Stratégie de Collecte   (Web Scraping)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30868" y="5690026"/>
            <a:ext cx="4701060" cy="128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3" indent="-399411" lvl="1">
              <a:lnSpc>
                <a:spcPts val="5179"/>
              </a:lnSpc>
              <a:spcBef>
                <a:spcPct val="0"/>
              </a:spcBef>
              <a:buAutoNum type="arabicPeriod" startAt="1"/>
            </a:pPr>
            <a:r>
              <a:rPr lang="en-US" b="true" sz="3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Description du Dataset Final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79272" y="9464675"/>
            <a:ext cx="3027246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9272" y="2111450"/>
            <a:ext cx="589719" cy="590793"/>
          </a:xfrm>
          <a:custGeom>
            <a:avLst/>
            <a:gdLst/>
            <a:ahLst/>
            <a:cxnLst/>
            <a:rect r="r" b="b" t="t" l="l"/>
            <a:pathLst>
              <a:path h="590793" w="589719">
                <a:moveTo>
                  <a:pt x="0" y="0"/>
                </a:moveTo>
                <a:lnTo>
                  <a:pt x="589719" y="0"/>
                </a:lnTo>
                <a:lnTo>
                  <a:pt x="589719" y="590792"/>
                </a:lnTo>
                <a:lnTo>
                  <a:pt x="0" y="590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9272" y="4716820"/>
            <a:ext cx="698856" cy="700129"/>
          </a:xfrm>
          <a:custGeom>
            <a:avLst/>
            <a:gdLst/>
            <a:ahLst/>
            <a:cxnLst/>
            <a:rect r="r" b="b" t="t" l="l"/>
            <a:pathLst>
              <a:path h="700129" w="698856">
                <a:moveTo>
                  <a:pt x="0" y="0"/>
                </a:moveTo>
                <a:lnTo>
                  <a:pt x="698856" y="0"/>
                </a:lnTo>
                <a:lnTo>
                  <a:pt x="698856" y="700129"/>
                </a:lnTo>
                <a:lnTo>
                  <a:pt x="0" y="700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3618473" cy="45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Web Scraping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8128" y="2835188"/>
            <a:ext cx="15428754" cy="1310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31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Sélection principale de Google Maps (208 avis identifiés) </a:t>
            </a:r>
          </a:p>
          <a:p>
            <a:pPr algn="l">
              <a:lnSpc>
                <a:spcPts val="3423"/>
              </a:lnSpc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car cette plateforme offre le volume d'avis le plus pertinent contrairement à Momondo (données agrégées) ou Booking.TripAdvisor (accès restreint).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3196" y="4964067"/>
            <a:ext cx="4209824" cy="45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Défis &amp; Solutions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5948" y="5645549"/>
            <a:ext cx="15456104" cy="315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32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Les sites utilisant du contenu dynamique (JavaScript) ont limité l'efficacité de Beautiful Soup. L'approche a donc évolué vers l'utilisation de Selenium (l'extraction de JSON cachés) pour garantir une collecte complète.</a:t>
            </a:r>
          </a:p>
          <a:p>
            <a:pPr algn="l">
              <a:lnSpc>
                <a:spcPts val="3530"/>
              </a:lnSpc>
            </a:pPr>
          </a:p>
          <a:p>
            <a:pPr algn="l">
              <a:lnSpc>
                <a:spcPts val="3530"/>
              </a:lnSpc>
            </a:pPr>
            <a:r>
              <a:rPr lang="en-US" b="true" sz="32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D’ailleurs la non -disponibilité des données( restrictions ou sécurisations) n’a pas affecté la variété de nos données car les avis dans Google Maps sont dérivés de plusieurs sites de booking ou d’avis.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33833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8128" y="2194693"/>
            <a:ext cx="4209824" cy="45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Choix des sources: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48207" y="9726024"/>
            <a:ext cx="3027246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21112" y="785443"/>
            <a:ext cx="7539374" cy="45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Description du Dataset Final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72238" y="1863019"/>
            <a:ext cx="15525110" cy="45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b="true" sz="321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201 Avis aprés nettoyage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3194" y="2968155"/>
            <a:ext cx="4236116" cy="45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b="true" sz="321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Attributs collectés: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72238" y="2956849"/>
            <a:ext cx="15552631" cy="46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3"/>
              </a:lnSpc>
            </a:pPr>
            <a:r>
              <a:rPr lang="en-US" b="true" sz="332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nom client, Date, Texte aprés nettoyage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33833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5920" y="1893255"/>
            <a:ext cx="4236116" cy="45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b="true" sz="321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Volume: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8644" y="4575909"/>
            <a:ext cx="4236116" cy="45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b="true" sz="321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Observations: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1112" y="4736316"/>
            <a:ext cx="17194143" cy="226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3"/>
              </a:lnSpc>
            </a:pPr>
          </a:p>
          <a:p>
            <a:pPr algn="l" marL="716915" indent="-358457" lvl="1">
              <a:lnSpc>
                <a:spcPts val="3553"/>
              </a:lnSpc>
              <a:buFont typeface="Arial"/>
              <a:buChar char="•"/>
            </a:pPr>
            <a:r>
              <a:rPr lang="en-US" b="true" sz="332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Le jeu de Données manque la note (le rating)==&gt; on a des données non étiquetées.  ce qui nous pousse à analyser les sentiments des textes pour pouvoir ajouter ce feature.</a:t>
            </a:r>
          </a:p>
          <a:p>
            <a:pPr algn="l">
              <a:lnSpc>
                <a:spcPts val="3553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8034" y="1869710"/>
            <a:ext cx="8390257" cy="4806663"/>
          </a:xfrm>
          <a:custGeom>
            <a:avLst/>
            <a:gdLst/>
            <a:ahLst/>
            <a:cxnLst/>
            <a:rect r="r" b="b" t="t" l="l"/>
            <a:pathLst>
              <a:path h="4806663" w="8390257">
                <a:moveTo>
                  <a:pt x="0" y="0"/>
                </a:moveTo>
                <a:lnTo>
                  <a:pt x="8390257" y="0"/>
                </a:lnTo>
                <a:lnTo>
                  <a:pt x="8390257" y="4806664"/>
                </a:lnTo>
                <a:lnTo>
                  <a:pt x="0" y="4806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6452" y="6976439"/>
            <a:ext cx="14289202" cy="302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3"/>
              </a:lnSpc>
            </a:pPr>
            <a:r>
              <a:rPr lang="en-US" sz="3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 distribution est fortement asymétrique à gauche.</a:t>
            </a:r>
          </a:p>
          <a:p>
            <a:pPr algn="ctr" marL="690876" indent="-345438" lvl="1">
              <a:lnSpc>
                <a:spcPts val="34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 grande majorité des clients</a:t>
            </a: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laissent des avis très courts (&lt; 30 mots).</a:t>
            </a:r>
          </a:p>
          <a:p>
            <a:pPr algn="ctr" marL="690876" indent="-345438" lvl="1">
              <a:lnSpc>
                <a:spcPts val="34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Une minorité prend le temps de rédiger des paragraphes détaillé</a:t>
            </a:r>
          </a:p>
          <a:p>
            <a:pPr algn="ctr" marL="690876" indent="-345438" lvl="1">
              <a:lnSpc>
                <a:spcPts val="3423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3423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Cette disparité de longueur confirme la nécessité d'une normalisation (TF-IDF) lors de l'étape suivante,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5818"/>
            <a:ext cx="5224462" cy="45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3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Exploration du Texte (EDA)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38059"/>
            <a:ext cx="8435553" cy="752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0"/>
              </a:lnSpc>
            </a:pPr>
            <a:r>
              <a:rPr lang="en-US" sz="11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Préparation des Données (Data Preparation)</a:t>
            </a:r>
          </a:p>
        </p:txBody>
      </p:sp>
      <p:sp>
        <p:nvSpPr>
          <p:cNvPr name="AutoShape 3" id="3"/>
          <p:cNvSpPr/>
          <p:nvPr/>
        </p:nvSpPr>
        <p:spPr>
          <a:xfrm flipH="true">
            <a:off x="9144000" y="5117060"/>
            <a:ext cx="1764511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806711" y="683429"/>
            <a:ext cx="5452589" cy="226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629" indent="-464314" lvl="1">
              <a:lnSpc>
                <a:spcPts val="6021"/>
              </a:lnSpc>
              <a:spcBef>
                <a:spcPct val="0"/>
              </a:spcBef>
              <a:buAutoNum type="arabicPeriod" startAt="1"/>
            </a:pPr>
            <a:r>
              <a:rPr lang="en-US" b="true" sz="4301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Pipeline de Nettoyage NLP (Text Cleaning)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06711" y="3591598"/>
            <a:ext cx="4701060" cy="194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3" indent="-399411" lvl="1">
              <a:lnSpc>
                <a:spcPts val="5179"/>
              </a:lnSpc>
              <a:spcBef>
                <a:spcPct val="0"/>
              </a:spcBef>
              <a:buAutoNum type="arabicPeriod" startAt="1"/>
            </a:pPr>
            <a:r>
              <a:rPr lang="en-US" b="true" sz="3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Création de la Variable Cible (Labeling)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60920" y="976509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06711" y="6174144"/>
            <a:ext cx="4701060" cy="194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3" indent="-399411" lvl="1">
              <a:lnSpc>
                <a:spcPts val="5179"/>
              </a:lnSpc>
              <a:spcBef>
                <a:spcPct val="0"/>
              </a:spcBef>
              <a:buAutoNum type="arabicPeriod" startAt="1"/>
            </a:pPr>
            <a:r>
              <a:rPr lang="en-US" b="true" sz="3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Vectorisation (Feature Extraction)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19563" y="647700"/>
            <a:ext cx="3027246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29844" y="2111450"/>
            <a:ext cx="589719" cy="590793"/>
          </a:xfrm>
          <a:custGeom>
            <a:avLst/>
            <a:gdLst/>
            <a:ahLst/>
            <a:cxnLst/>
            <a:rect r="r" b="b" t="t" l="l"/>
            <a:pathLst>
              <a:path h="590793" w="589719">
                <a:moveTo>
                  <a:pt x="0" y="0"/>
                </a:moveTo>
                <a:lnTo>
                  <a:pt x="589719" y="0"/>
                </a:lnTo>
                <a:lnTo>
                  <a:pt x="589719" y="590792"/>
                </a:lnTo>
                <a:lnTo>
                  <a:pt x="0" y="590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6908" y="5003859"/>
            <a:ext cx="9452507" cy="4986197"/>
          </a:xfrm>
          <a:custGeom>
            <a:avLst/>
            <a:gdLst/>
            <a:ahLst/>
            <a:cxnLst/>
            <a:rect r="r" b="b" t="t" l="l"/>
            <a:pathLst>
              <a:path h="4986197" w="9452507">
                <a:moveTo>
                  <a:pt x="0" y="0"/>
                </a:moveTo>
                <a:lnTo>
                  <a:pt x="9452507" y="0"/>
                </a:lnTo>
                <a:lnTo>
                  <a:pt x="9452507" y="4986197"/>
                </a:lnTo>
                <a:lnTo>
                  <a:pt x="0" y="498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9485515" cy="47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33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3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Pipeline de Nettoyage NLP (T</a:t>
            </a:r>
            <a:r>
              <a:rPr lang="en-US" b="true" sz="33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ext Cleaning)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43488"/>
            <a:ext cx="16230600" cy="239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96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Traitements appliqués :</a:t>
            </a:r>
          </a:p>
          <a:p>
            <a:pPr algn="l" marL="641151" indent="-320575" lvl="1">
              <a:lnSpc>
                <a:spcPts val="3177"/>
              </a:lnSpc>
              <a:buFont typeface="Arial"/>
              <a:buChar char="•"/>
            </a:pPr>
            <a:r>
              <a:rPr lang="en-US" b="true" sz="296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Normalisation : Conversion en minuscules.</a:t>
            </a:r>
          </a:p>
          <a:p>
            <a:pPr algn="l" marL="641151" indent="-320575" lvl="1">
              <a:lnSpc>
                <a:spcPts val="3177"/>
              </a:lnSpc>
              <a:buFont typeface="Arial"/>
              <a:buChar char="•"/>
            </a:pPr>
            <a:r>
              <a:rPr lang="en-US" b="true" sz="296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Nettoyage : Suppression de la ponctuation, caractères spéciaux et chiffres.</a:t>
            </a:r>
          </a:p>
          <a:p>
            <a:pPr algn="l" marL="641151" indent="-320575" lvl="1">
              <a:lnSpc>
                <a:spcPts val="3177"/>
              </a:lnSpc>
              <a:buFont typeface="Arial"/>
              <a:buChar char="•"/>
            </a:pPr>
            <a:r>
              <a:rPr lang="en-US" b="true" sz="296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Filtrage : Retrait des Stopwords  via NLTK.</a:t>
            </a:r>
          </a:p>
          <a:p>
            <a:pPr algn="l" marL="641151" indent="-320575" lvl="1">
              <a:lnSpc>
                <a:spcPts val="3177"/>
              </a:lnSpc>
              <a:buFont typeface="Arial"/>
              <a:buChar char="•"/>
            </a:pPr>
            <a:r>
              <a:rPr lang="en-US" b="true" sz="296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Racinisation (Stemming) : Réduction des mots à leur racine avec SnowballStemmer</a:t>
            </a:r>
          </a:p>
          <a:p>
            <a:pPr algn="l">
              <a:lnSpc>
                <a:spcPts val="317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33833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63232"/>
            <a:ext cx="1786143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b="true" sz="29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objectif: Transformer les commentaires bruts et bruyants en texte propre exploitable.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03308" y="5693494"/>
            <a:ext cx="7301248" cy="431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76" indent="-345438" lvl="1">
              <a:lnSpc>
                <a:spcPts val="3423"/>
              </a:lnSpc>
              <a:buFont typeface="Arial"/>
              <a:buChar char="•"/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Validation du Nettoyage : L'élimination des stopwords et le stemming font émerger les thèmes clés de l'hôtellerie</a:t>
            </a:r>
          </a:p>
          <a:p>
            <a:pPr algn="ctr">
              <a:lnSpc>
                <a:spcPts val="3423"/>
              </a:lnSpc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("Chambre", "Personnel", "service”, “acceuil”). </a:t>
            </a:r>
          </a:p>
          <a:p>
            <a:pPr algn="ctr">
              <a:lnSpc>
                <a:spcPts val="3423"/>
              </a:lnSpc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==&gt;Le bruit a été filtré avec succès.</a:t>
            </a:r>
          </a:p>
          <a:p>
            <a:pPr algn="ctr">
              <a:lnSpc>
                <a:spcPts val="3423"/>
              </a:lnSpc>
            </a:pPr>
          </a:p>
          <a:p>
            <a:pPr algn="ctr" marL="690876" indent="-345438" lvl="1">
              <a:lnSpc>
                <a:spcPts val="3423"/>
              </a:lnSpc>
              <a:buFont typeface="Arial"/>
              <a:buChar char="•"/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 On voit des mots de sentiments: trés, bon excellent, propore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19563" y="647700"/>
            <a:ext cx="3027246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38981" y="4930165"/>
            <a:ext cx="589719" cy="590793"/>
          </a:xfrm>
          <a:custGeom>
            <a:avLst/>
            <a:gdLst/>
            <a:ahLst/>
            <a:cxnLst/>
            <a:rect r="r" b="b" t="t" l="l"/>
            <a:pathLst>
              <a:path h="590793" w="589719">
                <a:moveTo>
                  <a:pt x="0" y="0"/>
                </a:moveTo>
                <a:lnTo>
                  <a:pt x="589719" y="0"/>
                </a:lnTo>
                <a:lnTo>
                  <a:pt x="589719" y="590793"/>
                </a:lnTo>
                <a:lnTo>
                  <a:pt x="0" y="590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08304" y="8962904"/>
            <a:ext cx="589719" cy="590793"/>
          </a:xfrm>
          <a:custGeom>
            <a:avLst/>
            <a:gdLst/>
            <a:ahLst/>
            <a:cxnLst/>
            <a:rect r="r" b="b" t="t" l="l"/>
            <a:pathLst>
              <a:path h="590793" w="589719">
                <a:moveTo>
                  <a:pt x="0" y="0"/>
                </a:moveTo>
                <a:lnTo>
                  <a:pt x="589719" y="0"/>
                </a:lnTo>
                <a:lnTo>
                  <a:pt x="589719" y="590792"/>
                </a:lnTo>
                <a:lnTo>
                  <a:pt x="0" y="590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14215" y="647700"/>
            <a:ext cx="6493831" cy="3490434"/>
          </a:xfrm>
          <a:custGeom>
            <a:avLst/>
            <a:gdLst/>
            <a:ahLst/>
            <a:cxnLst/>
            <a:rect r="r" b="b" t="t" l="l"/>
            <a:pathLst>
              <a:path h="3490434" w="6493831">
                <a:moveTo>
                  <a:pt x="0" y="0"/>
                </a:moveTo>
                <a:lnTo>
                  <a:pt x="6493831" y="0"/>
                </a:lnTo>
                <a:lnTo>
                  <a:pt x="6493831" y="3490434"/>
                </a:lnTo>
                <a:lnTo>
                  <a:pt x="0" y="3490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66800"/>
            <a:ext cx="9485515" cy="47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33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V</a:t>
            </a:r>
            <a:r>
              <a:rPr lang="en-US" b="true" sz="33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ectorisation (Feature E</a:t>
            </a:r>
            <a:r>
              <a:rPr lang="en-US" b="true" sz="33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xtraction)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22371" y="969213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33833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6245" y="5725947"/>
            <a:ext cx="8252059" cy="402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9"/>
              </a:lnSpc>
            </a:pPr>
            <a:r>
              <a:rPr lang="en-US" sz="29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Méthode : Utilisation de TF-IDF (Term Frequency-Inverse Document Frequency).</a:t>
            </a:r>
          </a:p>
          <a:p>
            <a:pPr algn="l">
              <a:lnSpc>
                <a:spcPts val="3209"/>
              </a:lnSpc>
            </a:pPr>
          </a:p>
          <a:p>
            <a:pPr algn="l">
              <a:lnSpc>
                <a:spcPts val="3209"/>
              </a:lnSpc>
            </a:pPr>
            <a:r>
              <a:rPr lang="en-US" sz="29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Objectif: Pondérer selon la rarité statistique.</a:t>
            </a:r>
          </a:p>
          <a:p>
            <a:pPr algn="l">
              <a:lnSpc>
                <a:spcPts val="3209"/>
              </a:lnSpc>
            </a:pPr>
          </a:p>
          <a:p>
            <a:pPr algn="l">
              <a:lnSpc>
                <a:spcPts val="3209"/>
              </a:lnSpc>
            </a:pPr>
            <a:r>
              <a:rPr lang="en-US" sz="29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Résultat: réduire le poids des mots trop fréquents et de valoriser les termes spécifiques qui portent du sens. </a:t>
            </a:r>
          </a:p>
          <a:p>
            <a:pPr algn="l">
              <a:lnSpc>
                <a:spcPts val="3209"/>
              </a:lnSpc>
            </a:pPr>
            <a:r>
              <a:rPr lang="en-US" sz="29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-&gt;éliminer le bruit fréquentiel</a:t>
            </a:r>
          </a:p>
          <a:p>
            <a:pPr algn="l">
              <a:lnSpc>
                <a:spcPts val="320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608304" y="4452459"/>
            <a:ext cx="9377075" cy="345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3"/>
              </a:lnSpc>
            </a:pPr>
            <a:r>
              <a:rPr lang="en-US" sz="31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Nuage de Mots: </a:t>
            </a:r>
          </a:p>
          <a:p>
            <a:pPr algn="ctr">
              <a:lnSpc>
                <a:spcPts val="3423"/>
              </a:lnSpc>
            </a:pPr>
            <a:r>
              <a:rPr lang="en-US" sz="31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En analysant la fréquence brute (Bag-of-Words), on voit que des termes génériques  écrasent tout le reste.</a:t>
            </a:r>
          </a:p>
          <a:p>
            <a:pPr algn="ctr">
              <a:lnSpc>
                <a:spcPts val="3423"/>
              </a:lnSpc>
            </a:pPr>
            <a:r>
              <a:rPr lang="en-US" sz="31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Mais ne donnent aucune indication sur la satisfaction du client </a:t>
            </a:r>
          </a:p>
          <a:p>
            <a:pPr algn="ctr">
              <a:lnSpc>
                <a:spcPts val="3423"/>
              </a:lnSpc>
              <a:spcBef>
                <a:spcPct val="0"/>
              </a:spcBef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C'est pour corriger ce défaut visuel que nous passons ensuite au TF-IDF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1104" y="1856359"/>
            <a:ext cx="9715976" cy="259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3423"/>
              </a:lnSpc>
              <a:spcBef>
                <a:spcPct val="0"/>
              </a:spcBef>
              <a:buAutoNum type="arabicPeriod" startAt="1"/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Construction du Vocabulaire (Bag-of-Words):</a:t>
            </a:r>
          </a:p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Matrice résultante: de dimension 201 x 1005:</a:t>
            </a:r>
          </a:p>
          <a:p>
            <a:pPr algn="l" marL="690876" indent="-345438" lvl="1">
              <a:lnSpc>
                <a:spcPts val="34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201 lignes (Avis clients).</a:t>
            </a:r>
          </a:p>
          <a:p>
            <a:pPr algn="l" marL="690876" indent="-345438" lvl="1">
              <a:lnSpc>
                <a:spcPts val="34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1005 colonnes (Le vocabulaire unique appris).</a:t>
            </a:r>
          </a:p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C’est notre espace de travail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542" y="4958740"/>
            <a:ext cx="3430667" cy="45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76" indent="-345438" lvl="1">
              <a:lnSpc>
                <a:spcPts val="3423"/>
              </a:lnSpc>
              <a:spcBef>
                <a:spcPct val="0"/>
              </a:spcBef>
              <a:buAutoNum type="arabicPeriod" startAt="1"/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Vectorisation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83709" y="9046147"/>
            <a:ext cx="8083919" cy="88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b="true" sz="31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Matrice finale : dimension de 201*1005 pndérée 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79272" y="9464675"/>
            <a:ext cx="3027246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70384" y="1435227"/>
            <a:ext cx="417775" cy="418536"/>
          </a:xfrm>
          <a:custGeom>
            <a:avLst/>
            <a:gdLst/>
            <a:ahLst/>
            <a:cxnLst/>
            <a:rect r="r" b="b" t="t" l="l"/>
            <a:pathLst>
              <a:path h="418536" w="417775">
                <a:moveTo>
                  <a:pt x="0" y="0"/>
                </a:moveTo>
                <a:lnTo>
                  <a:pt x="417776" y="0"/>
                </a:lnTo>
                <a:lnTo>
                  <a:pt x="417776" y="418536"/>
                </a:lnTo>
                <a:lnTo>
                  <a:pt x="0" y="418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907" y="3205747"/>
            <a:ext cx="458565" cy="459401"/>
          </a:xfrm>
          <a:custGeom>
            <a:avLst/>
            <a:gdLst/>
            <a:ahLst/>
            <a:cxnLst/>
            <a:rect r="r" b="b" t="t" l="l"/>
            <a:pathLst>
              <a:path h="459401" w="458565">
                <a:moveTo>
                  <a:pt x="0" y="0"/>
                </a:moveTo>
                <a:lnTo>
                  <a:pt x="458566" y="0"/>
                </a:lnTo>
                <a:lnTo>
                  <a:pt x="458566" y="459400"/>
                </a:lnTo>
                <a:lnTo>
                  <a:pt x="0" y="45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08190" y="3205747"/>
            <a:ext cx="5286397" cy="4223717"/>
          </a:xfrm>
          <a:custGeom>
            <a:avLst/>
            <a:gdLst/>
            <a:ahLst/>
            <a:cxnLst/>
            <a:rect r="r" b="b" t="t" l="l"/>
            <a:pathLst>
              <a:path h="4223717" w="5286397">
                <a:moveTo>
                  <a:pt x="0" y="0"/>
                </a:moveTo>
                <a:lnTo>
                  <a:pt x="5286397" y="0"/>
                </a:lnTo>
                <a:lnTo>
                  <a:pt x="5286397" y="4223717"/>
                </a:lnTo>
                <a:lnTo>
                  <a:pt x="0" y="4223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52" t="0" r="-475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94587" y="2512937"/>
            <a:ext cx="5638038" cy="5907632"/>
          </a:xfrm>
          <a:custGeom>
            <a:avLst/>
            <a:gdLst/>
            <a:ahLst/>
            <a:cxnLst/>
            <a:rect r="r" b="b" t="t" l="l"/>
            <a:pathLst>
              <a:path h="5907632" w="5638038">
                <a:moveTo>
                  <a:pt x="0" y="0"/>
                </a:moveTo>
                <a:lnTo>
                  <a:pt x="5638037" y="0"/>
                </a:lnTo>
                <a:lnTo>
                  <a:pt x="5638037" y="5907632"/>
                </a:lnTo>
                <a:lnTo>
                  <a:pt x="0" y="5907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9812" y="660273"/>
            <a:ext cx="11274774" cy="36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8"/>
              </a:lnSpc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Génération des Labels &amp; Analyse de Sentiment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51470"/>
            <a:ext cx="16075650" cy="145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2888"/>
              </a:lnSpc>
              <a:buFont typeface="Arial"/>
              <a:buChar char="•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Les données scrapées contiennent le texte mais pas de note (Rating) exploitable.</a:t>
            </a:r>
          </a:p>
          <a:p>
            <a:pPr algn="l" marL="582928" indent="-291464" lvl="1">
              <a:lnSpc>
                <a:spcPts val="2888"/>
              </a:lnSpc>
              <a:buFont typeface="Arial"/>
              <a:buChar char="•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Conséquence : Nous sommes dans un cas non supervisé, mais nous avons besoin de classes pour entraîner un classifieur.</a:t>
            </a:r>
          </a:p>
          <a:p>
            <a:pPr algn="l">
              <a:lnSpc>
                <a:spcPts val="288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66970" y="3270284"/>
            <a:ext cx="9278824" cy="36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8"/>
              </a:lnSpc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 : Labellisation Automatique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1348" y="3908597"/>
            <a:ext cx="6366823" cy="471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2888"/>
              </a:lnSpc>
              <a:buFont typeface="Arial"/>
              <a:buChar char="•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Outil : Utilisation de TextBlob-FR (Approche Lexicale)</a:t>
            </a:r>
          </a:p>
          <a:p>
            <a:pPr algn="l" marL="582928" indent="-291464" lvl="1">
              <a:lnSpc>
                <a:spcPts val="2888"/>
              </a:lnSpc>
              <a:buFont typeface="Arial"/>
              <a:buChar char="•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as robuste mais suffisante pour un mini projet ).</a:t>
            </a:r>
          </a:p>
          <a:p>
            <a:pPr algn="l" marL="582928" indent="-291464" lvl="1">
              <a:lnSpc>
                <a:spcPts val="2888"/>
              </a:lnSpc>
              <a:buFont typeface="Arial"/>
              <a:buChar char="•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Méthode : Calcul d'un score de polarité pour chaque </a:t>
            </a: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avis </a:t>
            </a:r>
          </a:p>
          <a:p>
            <a:pPr algn="l">
              <a:lnSpc>
                <a:spcPts val="2888"/>
              </a:lnSpc>
            </a:pPr>
            <a:r>
              <a:rPr lang="en-US" sz="26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     </a:t>
            </a:r>
            <a:r>
              <a:rPr lang="en-US" sz="26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(basé sur un dictionnaire de mots positifs/négatifs). </a:t>
            </a:r>
          </a:p>
          <a:p>
            <a:pPr algn="l" marL="582928" indent="-291464" lvl="1">
              <a:lnSpc>
                <a:spcPts val="2888"/>
              </a:lnSpc>
              <a:buFont typeface="Arial"/>
              <a:buChar char="•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Règle de décision :</a:t>
            </a:r>
          </a:p>
          <a:p>
            <a:pPr algn="l" marL="1165857" indent="-388619" lvl="2">
              <a:lnSpc>
                <a:spcPts val="2888"/>
              </a:lnSpc>
              <a:buFont typeface="Arial"/>
              <a:buChar char="⚬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Polarité &gt;0.1 -&gt; Positif</a:t>
            </a:r>
          </a:p>
          <a:p>
            <a:pPr algn="l" marL="1165857" indent="-388619" lvl="2">
              <a:lnSpc>
                <a:spcPts val="2888"/>
              </a:lnSpc>
              <a:buFont typeface="Arial"/>
              <a:buChar char="⚬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Polarité &lt;0.1 -&gt; Négatif</a:t>
            </a:r>
          </a:p>
          <a:p>
            <a:pPr algn="l" marL="1165857" indent="-388619" lvl="2">
              <a:lnSpc>
                <a:spcPts val="2888"/>
              </a:lnSpc>
              <a:buFont typeface="Arial"/>
              <a:buChar char="⚬"/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Polarité =  Neutre</a:t>
            </a:r>
          </a:p>
          <a:p>
            <a:pPr algn="l">
              <a:lnSpc>
                <a:spcPts val="288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9725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433833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9095" y="1344943"/>
            <a:ext cx="4209824" cy="36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8"/>
              </a:lnSpc>
            </a:pPr>
            <a:r>
              <a:rPr lang="en-US" b="true" sz="26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Ground Truth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08190" y="8001503"/>
            <a:ext cx="9307558" cy="212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2"/>
              </a:lnSpc>
              <a:spcBef>
                <a:spcPct val="0"/>
              </a:spcBef>
            </a:pPr>
            <a:r>
              <a:rPr lang="en-US" b="true" sz="3142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Cette distribution reflète une bonne satisfaction client (Business), mais crée un déséquilibre extrême (Data Science) la phase du training qui rendra la détection des avis négatifs très difficile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9714"/>
            <a:ext cx="16230600" cy="432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0"/>
              </a:lnSpc>
            </a:pPr>
            <a:r>
              <a:rPr lang="en-US" sz="12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Environnement &amp; Stratégie de Modélisation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4577199" y="6583757"/>
            <a:ext cx="1249403" cy="4114800"/>
          </a:xfrm>
          <a:custGeom>
            <a:avLst/>
            <a:gdLst/>
            <a:ahLst/>
            <a:cxnLst/>
            <a:rect r="r" b="b" t="t" l="l"/>
            <a:pathLst>
              <a:path h="4114800" w="1249403">
                <a:moveTo>
                  <a:pt x="0" y="0"/>
                </a:moveTo>
                <a:lnTo>
                  <a:pt x="1249402" y="0"/>
                </a:lnTo>
                <a:lnTo>
                  <a:pt x="1249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028700" y="1123950"/>
            <a:ext cx="1006565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008" y="7641340"/>
            <a:ext cx="162306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Objectif</a:t>
            </a:r>
          </a:p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Construire un modèle de classification supervisée permettant de prédire le sentiment d’un avis client (Positive / Neutral / Negative).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166998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02839" y="2862969"/>
            <a:ext cx="9461275" cy="3525161"/>
          </a:xfrm>
          <a:custGeom>
            <a:avLst/>
            <a:gdLst/>
            <a:ahLst/>
            <a:cxnLst/>
            <a:rect r="r" b="b" t="t" l="l"/>
            <a:pathLst>
              <a:path h="3525161" w="9461275">
                <a:moveTo>
                  <a:pt x="0" y="0"/>
                </a:moveTo>
                <a:lnTo>
                  <a:pt x="9461275" y="0"/>
                </a:lnTo>
                <a:lnTo>
                  <a:pt x="9461275" y="3525161"/>
                </a:lnTo>
                <a:lnTo>
                  <a:pt x="0" y="3525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69" r="0" b="-24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2907" y="682441"/>
            <a:ext cx="4785836" cy="45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b="true" sz="3275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Environnement &amp; Outils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668" y="5272328"/>
            <a:ext cx="6513625" cy="39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b="true" sz="2867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Sélection des Algorithmes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2279" y="1174670"/>
            <a:ext cx="7111651" cy="109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425" indent="-294712" lvl="1">
              <a:lnSpc>
                <a:spcPts val="2921"/>
              </a:lnSpc>
              <a:buFont typeface="Arial"/>
              <a:buChar char="•"/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Python 3.10 – langage principal</a:t>
            </a:r>
          </a:p>
          <a:p>
            <a:pPr algn="l" marL="589425" indent="-294712" lvl="1">
              <a:lnSpc>
                <a:spcPts val="2921"/>
              </a:lnSpc>
              <a:buFont typeface="Arial"/>
              <a:buChar char="•"/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Conda – gestion des environnements</a:t>
            </a:r>
          </a:p>
          <a:p>
            <a:pPr algn="l" marL="589425" indent="-294712" lvl="1">
              <a:lnSpc>
                <a:spcPts val="2921"/>
              </a:lnSpc>
              <a:buFont typeface="Arial"/>
              <a:buChar char="•"/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Jupyter Notebook – expérimentation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177" y="5887450"/>
            <a:ext cx="8569612" cy="337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485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Nous avons mis en compétition trois algorithmes:</a:t>
            </a:r>
          </a:p>
          <a:p>
            <a:pPr algn="l" marL="536707" indent="-268353" lvl="1">
              <a:lnSpc>
                <a:spcPts val="2659"/>
              </a:lnSpc>
              <a:buFont typeface="Arial"/>
              <a:buChar char="•"/>
            </a:pPr>
            <a:r>
              <a:rPr lang="en-US" sz="2485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Multinomial Naive Bayes : La "baseline"  pour les données textuelles et petites, rapide et probabiliste.</a:t>
            </a:r>
          </a:p>
          <a:p>
            <a:pPr algn="l">
              <a:lnSpc>
                <a:spcPts val="2659"/>
              </a:lnSpc>
            </a:pPr>
          </a:p>
          <a:p>
            <a:pPr algn="l" marL="536707" indent="-268353" lvl="1">
              <a:lnSpc>
                <a:spcPts val="2659"/>
              </a:lnSpc>
              <a:buFont typeface="Arial"/>
              <a:buChar char="•"/>
            </a:pPr>
            <a:r>
              <a:rPr lang="en-US" sz="2485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Logistic Regression : Simple, interprétable, robuste pour la classification binaire.</a:t>
            </a:r>
          </a:p>
          <a:p>
            <a:pPr algn="l">
              <a:lnSpc>
                <a:spcPts val="2659"/>
              </a:lnSpc>
            </a:pPr>
          </a:p>
          <a:p>
            <a:pPr algn="l" marL="536707" indent="-268353" lvl="1">
              <a:lnSpc>
                <a:spcPts val="2659"/>
              </a:lnSpc>
              <a:buFont typeface="Arial"/>
              <a:buChar char="•"/>
            </a:pPr>
            <a:r>
              <a:rPr lang="en-US" sz="2485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SVM Linéaire: efficace sur données haute dimension (TF-IDF), souvent meilleur sur texte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673601" y="981863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742" y="2654955"/>
            <a:ext cx="4054555" cy="45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b="true" sz="3275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Libraries / Packages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3255548"/>
            <a:ext cx="7859015" cy="181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425" indent="-294712" lvl="1">
              <a:lnSpc>
                <a:spcPts val="2921"/>
              </a:lnSpc>
              <a:buFont typeface="Arial"/>
              <a:buChar char="•"/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scikit-learn: vectorisation + algorithmes</a:t>
            </a:r>
          </a:p>
          <a:p>
            <a:pPr algn="l" marL="589425" indent="-294712" lvl="1">
              <a:lnSpc>
                <a:spcPts val="2921"/>
              </a:lnSpc>
              <a:buFont typeface="Arial"/>
              <a:buChar char="•"/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imbalanced-learn: oversampling</a:t>
            </a:r>
          </a:p>
          <a:p>
            <a:pPr algn="l" marL="589425" indent="-294712" lvl="1">
              <a:lnSpc>
                <a:spcPts val="2921"/>
              </a:lnSpc>
              <a:buFont typeface="Arial"/>
              <a:buChar char="•"/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pandas/ numpy – manipulation des données</a:t>
            </a:r>
          </a:p>
          <a:p>
            <a:pPr algn="l" marL="589425" indent="-294712" lvl="1">
              <a:lnSpc>
                <a:spcPts val="2921"/>
              </a:lnSpc>
              <a:buFont typeface="Arial"/>
              <a:buChar char="•"/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textblob/NLTK: Prétraitement NLP.</a:t>
            </a:r>
          </a:p>
          <a:p>
            <a:pPr algn="l" marL="589425" indent="-294712" lvl="1">
              <a:lnSpc>
                <a:spcPts val="2921"/>
              </a:lnSpc>
              <a:buFont typeface="Arial"/>
              <a:buChar char="•"/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joblib – sauvegarde du modèle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4019" y="449242"/>
            <a:ext cx="5014198" cy="45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b="true" sz="3275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Méthode d'Entraînement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1057807"/>
            <a:ext cx="8820114" cy="149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796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Cross-Validation (Validation Croisée) : </a:t>
            </a:r>
          </a:p>
          <a:p>
            <a:pPr algn="l">
              <a:lnSpc>
                <a:spcPts val="2991"/>
              </a:lnSpc>
            </a:pPr>
            <a:r>
              <a:rPr lang="en-US" sz="2796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Pour éviter le hasard d'une seule découpe (Train/Test) -&gt;nous validons la robustesse du modèle sur 5 plis  (K-Fold = 5)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6084" y="7786053"/>
            <a:ext cx="8727518" cy="14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8"/>
              </a:lnSpc>
            </a:pPr>
            <a:r>
              <a:rPr lang="en-US" sz="2830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Pourquoi le SVM a gagné ? </a:t>
            </a:r>
          </a:p>
          <a:p>
            <a:pPr algn="l">
              <a:lnSpc>
                <a:spcPts val="2921"/>
              </a:lnSpc>
            </a:pPr>
            <a:r>
              <a:rPr lang="en-US" sz="273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Le SVM est mathématiquement le plus performant pour gérer les espaces de haute dimension (nos 1005 features TF-IDF) même avec peu de données.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92630" y="6721505"/>
            <a:ext cx="9895370" cy="70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Tableau comparatif des performances (Cross-Validation 5-fold)</a:t>
            </a:r>
          </a:p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accuracy ssur chaque Fold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09714"/>
            <a:ext cx="16230600" cy="432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0"/>
              </a:lnSpc>
            </a:pPr>
            <a:r>
              <a:rPr lang="en-US" sz="12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Évaluation de la Performance &amp; Résultats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4577199" y="6583757"/>
            <a:ext cx="1249403" cy="4114800"/>
          </a:xfrm>
          <a:custGeom>
            <a:avLst/>
            <a:gdLst/>
            <a:ahLst/>
            <a:cxnLst/>
            <a:rect r="r" b="b" t="t" l="l"/>
            <a:pathLst>
              <a:path h="4114800" w="1249403">
                <a:moveTo>
                  <a:pt x="0" y="0"/>
                </a:moveTo>
                <a:lnTo>
                  <a:pt x="1249402" y="0"/>
                </a:lnTo>
                <a:lnTo>
                  <a:pt x="1249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028700" y="1123950"/>
            <a:ext cx="1006565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166998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909761"/>
            <a:ext cx="6715080" cy="6152218"/>
          </a:xfrm>
          <a:custGeom>
            <a:avLst/>
            <a:gdLst/>
            <a:ahLst/>
            <a:cxnLst/>
            <a:rect r="r" b="b" t="t" l="l"/>
            <a:pathLst>
              <a:path h="6152218" w="6715080">
                <a:moveTo>
                  <a:pt x="0" y="0"/>
                </a:moveTo>
                <a:lnTo>
                  <a:pt x="6715080" y="0"/>
                </a:lnTo>
                <a:lnTo>
                  <a:pt x="6715080" y="6152218"/>
                </a:lnTo>
                <a:lnTo>
                  <a:pt x="0" y="6152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73601" y="981863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2627" y="1125855"/>
            <a:ext cx="16982709" cy="442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3000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Le Piège de l'Accuracy</a:t>
            </a:r>
            <a:r>
              <a:rPr lang="en-US" sz="30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: Avec 97% de données positives/neutres, l'Accuracy est un indicateur trompeur.</a:t>
            </a:r>
          </a:p>
          <a:p>
            <a:pPr algn="l">
              <a:lnSpc>
                <a:spcPts val="3210"/>
              </a:lnSpc>
            </a:pPr>
          </a:p>
          <a:p>
            <a:pPr algn="l">
              <a:lnSpc>
                <a:spcPts val="3210"/>
              </a:lnSpc>
            </a:pPr>
            <a:r>
              <a:rPr lang="en-US" sz="3000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Notre Choix :</a:t>
            </a:r>
            <a:r>
              <a:rPr lang="en-US" sz="30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F1-Score Pondéré (Weighted): C'est la moyenne harmonique de la </a:t>
            </a:r>
            <a:r>
              <a:rPr lang="en-US" sz="3000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Précision</a:t>
            </a:r>
            <a:r>
              <a:rPr lang="en-US" sz="30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(qualité) et du </a:t>
            </a:r>
            <a:r>
              <a:rPr lang="en-US" sz="3000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Rappel</a:t>
            </a:r>
            <a:r>
              <a:rPr lang="en-US" sz="30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(quantité).</a:t>
            </a:r>
          </a:p>
          <a:p>
            <a:pPr algn="l">
              <a:lnSpc>
                <a:spcPts val="3210"/>
              </a:lnSpc>
            </a:pPr>
          </a:p>
          <a:p>
            <a:pPr algn="l">
              <a:lnSpc>
                <a:spcPts val="3210"/>
              </a:lnSpc>
            </a:pPr>
            <a:r>
              <a:rPr lang="en-US" sz="30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f1 = f1_score(y, y_pred, average='weighted') </a:t>
            </a:r>
          </a:p>
          <a:p>
            <a:pPr algn="l">
              <a:lnSpc>
                <a:spcPts val="3210"/>
              </a:lnSpc>
            </a:pPr>
            <a:r>
              <a:rPr lang="en-US" sz="30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#weighted F1 pour prendre en compte </a:t>
            </a:r>
          </a:p>
          <a:p>
            <a:pPr algn="l">
              <a:lnSpc>
                <a:spcPts val="3210"/>
              </a:lnSpc>
            </a:pPr>
            <a:r>
              <a:rPr lang="en-US" sz="30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déséquilibre éventuel</a:t>
            </a:r>
          </a:p>
          <a:p>
            <a:pPr algn="l">
              <a:lnSpc>
                <a:spcPts val="3210"/>
              </a:lnSpc>
            </a:pPr>
          </a:p>
          <a:p>
            <a:pPr algn="l">
              <a:lnSpc>
                <a:spcPts val="321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10703" y="9286875"/>
            <a:ext cx="578167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Accuracy (tout dataset): 0.9751</a:t>
            </a:r>
          </a:p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F1-score (weighted): 0.9713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2627" y="4896754"/>
            <a:ext cx="8115300" cy="442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 modèle a parfaitement assimilé les données d'entraînement (Accuracy &gt; 97%).</a:t>
            </a:r>
          </a:p>
          <a:p>
            <a:pPr algn="ctr">
              <a:lnSpc>
                <a:spcPts val="3210"/>
              </a:lnSpc>
              <a:spcBef>
                <a:spcPct val="0"/>
              </a:spcBef>
            </a:pPr>
          </a:p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 pondération (Weighted F1) confirme une bonne gestion globale des classes.</a:t>
            </a:r>
          </a:p>
          <a:p>
            <a:pPr algn="ctr">
              <a:lnSpc>
                <a:spcPts val="3210"/>
              </a:lnSpc>
              <a:spcBef>
                <a:spcPct val="0"/>
              </a:spcBef>
            </a:pPr>
          </a:p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Note critique : Cette performance très élevée s'explique par la taille réduite du corpus (201 avis) et la forte prédominance des avis positifs. Le modèle est "expert" sur ce dataset spécifique.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22627" y="4868179"/>
            <a:ext cx="458565" cy="459401"/>
          </a:xfrm>
          <a:custGeom>
            <a:avLst/>
            <a:gdLst/>
            <a:ahLst/>
            <a:cxnLst/>
            <a:rect r="r" b="b" t="t" l="l"/>
            <a:pathLst>
              <a:path h="459401" w="458565">
                <a:moveTo>
                  <a:pt x="0" y="0"/>
                </a:moveTo>
                <a:lnTo>
                  <a:pt x="458566" y="0"/>
                </a:lnTo>
                <a:lnTo>
                  <a:pt x="458566" y="459401"/>
                </a:lnTo>
                <a:lnTo>
                  <a:pt x="0" y="459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89983" y="10191750"/>
            <a:ext cx="3027246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46747" y="1068736"/>
            <a:ext cx="417775" cy="418536"/>
          </a:xfrm>
          <a:custGeom>
            <a:avLst/>
            <a:gdLst/>
            <a:ahLst/>
            <a:cxnLst/>
            <a:rect r="r" b="b" t="t" l="l"/>
            <a:pathLst>
              <a:path h="418536" w="417775">
                <a:moveTo>
                  <a:pt x="0" y="0"/>
                </a:moveTo>
                <a:lnTo>
                  <a:pt x="417775" y="0"/>
                </a:lnTo>
                <a:lnTo>
                  <a:pt x="417775" y="418536"/>
                </a:lnTo>
                <a:lnTo>
                  <a:pt x="0" y="418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0042" y="9258300"/>
            <a:ext cx="458565" cy="459401"/>
          </a:xfrm>
          <a:custGeom>
            <a:avLst/>
            <a:gdLst/>
            <a:ahLst/>
            <a:cxnLst/>
            <a:rect r="r" b="b" t="t" l="l"/>
            <a:pathLst>
              <a:path h="459401" w="458565">
                <a:moveTo>
                  <a:pt x="0" y="0"/>
                </a:moveTo>
                <a:lnTo>
                  <a:pt x="458565" y="0"/>
                </a:lnTo>
                <a:lnTo>
                  <a:pt x="458565" y="459401"/>
                </a:lnTo>
                <a:lnTo>
                  <a:pt x="0" y="459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57298" y="4479039"/>
            <a:ext cx="7530702" cy="5494623"/>
          </a:xfrm>
          <a:custGeom>
            <a:avLst/>
            <a:gdLst/>
            <a:ahLst/>
            <a:cxnLst/>
            <a:rect r="r" b="b" t="t" l="l"/>
            <a:pathLst>
              <a:path h="5494623" w="7530702">
                <a:moveTo>
                  <a:pt x="0" y="0"/>
                </a:moveTo>
                <a:lnTo>
                  <a:pt x="7530702" y="0"/>
                </a:lnTo>
                <a:lnTo>
                  <a:pt x="7530702" y="5494623"/>
                </a:lnTo>
                <a:lnTo>
                  <a:pt x="0" y="549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8607" y="5843216"/>
            <a:ext cx="11274774" cy="75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799" b="true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Stratégie d'Amélioration: SMOTE (Oversampling)</a:t>
            </a:r>
          </a:p>
          <a:p>
            <a:pPr algn="l">
              <a:lnSpc>
                <a:spcPts val="2995"/>
              </a:lnSpc>
            </a:pPr>
            <a:r>
              <a:rPr lang="en-US" b="true" sz="279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SMOTE= Synthetic Minority Over-sampling Technique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676483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33833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6825270"/>
            <a:ext cx="10542398" cy="260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2996"/>
              </a:lnSpc>
              <a:buFont typeface="Arial"/>
              <a:buChar char="•"/>
            </a:pPr>
            <a:r>
              <a:rPr lang="en-US" sz="28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Principe : L'algorithme crée des exemples synthétiques (artificiels) en mélangeant les caractéristiques des avis négatifs existants via la librairie imbalanced-learn.</a:t>
            </a:r>
          </a:p>
          <a:p>
            <a:pPr algn="ctr" marL="604521" indent="-302261" lvl="1">
              <a:lnSpc>
                <a:spcPts val="2996"/>
              </a:lnSpc>
              <a:buFont typeface="Arial"/>
              <a:buChar char="•"/>
            </a:pPr>
            <a:r>
              <a:rPr lang="en-US" sz="28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Action : Il gonfle le nombre d'avis négatifs dans le jeu d'entraînement jusqu'à ce qu'il y en ait autant que les positifs</a:t>
            </a:r>
          </a:p>
          <a:p>
            <a:pPr algn="ctr">
              <a:lnSpc>
                <a:spcPts val="299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03606" y="1106836"/>
            <a:ext cx="6230660" cy="37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6"/>
              </a:lnSpc>
              <a:spcBef>
                <a:spcPct val="0"/>
              </a:spcBef>
            </a:pPr>
            <a:r>
              <a:rPr lang="en-US" b="true" sz="28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Le Diagnostic : Déséquilibre Critique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283" y="1556416"/>
            <a:ext cx="18058717" cy="331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27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Réalité d</a:t>
            </a:r>
            <a:r>
              <a:rPr lang="en-US" b="true" sz="26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es Données :</a:t>
            </a:r>
            <a:r>
              <a:rPr lang="en-US" sz="26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Une disproportion majeure entre la satisfaction (120 avis positifs) et le mécontentement (7 avis négatifs).</a:t>
            </a:r>
          </a:p>
          <a:p>
            <a:pPr algn="l" marL="604521" indent="-302261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Le Piège de l'Accuracy : </a:t>
            </a:r>
            <a:r>
              <a:rPr lang="en-US" sz="28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Avec les données brutes, un modèle "naïf" atteint 97% d'exactitude... simplement en prédisant "Positif" tout le temps.Le modèle naif maximise l'Accuracy globale au détriment du Rappel (Recall) de la classe minoritaire.</a:t>
            </a:r>
          </a:p>
          <a:p>
            <a:pPr algn="l" marL="604521" indent="-302261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Conséquence : </a:t>
            </a:r>
            <a:r>
              <a:rPr lang="en-US" sz="28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Incapacité totale à détecter la classe "Négative" (Recall ~ 0). </a:t>
            </a:r>
          </a:p>
          <a:p>
            <a:pPr algn="l" marL="604521" indent="-302261" lvl="1">
              <a:lnSpc>
                <a:spcPts val="29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Impact Métier :</a:t>
            </a:r>
            <a:r>
              <a:rPr lang="en-US" sz="280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Rater une plainte critique (Faux Négatif) coûte beaucoup plus cher à la réputation de l'hôtel que de rater un compliment: pour l'hôtel, détecter un client mécontent est l'objectif prioritaire.</a:t>
            </a:r>
          </a:p>
          <a:p>
            <a:pPr algn="l">
              <a:lnSpc>
                <a:spcPts val="299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74356" y="356663"/>
            <a:ext cx="5064323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Problèmes et améliorations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286875"/>
            <a:ext cx="8779788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Le problème de biais est techniquement résolu.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58300"/>
            <a:ext cx="1166998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52279" y="403653"/>
            <a:ext cx="10612874" cy="48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b="true" sz="3475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 Impact du Rééquilibrage (Résultats Post-SMOTE)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1566" y="5130858"/>
            <a:ext cx="12362137" cy="45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b="true" sz="3276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sur le Dataset Complet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5127" y="5948254"/>
            <a:ext cx="16264173" cy="267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247" indent="-306624" lvl="1">
              <a:lnSpc>
                <a:spcPts val="3039"/>
              </a:lnSpc>
              <a:buFont typeface="Arial"/>
              <a:buChar char="•"/>
            </a:pPr>
            <a:r>
              <a:rPr lang="en-US" b="true" sz="284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Accuracy :</a:t>
            </a:r>
            <a:r>
              <a:rPr lang="en-US" sz="284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99.44%</a:t>
            </a:r>
          </a:p>
          <a:p>
            <a:pPr algn="just" marL="613247" indent="-306624" lvl="1">
              <a:lnSpc>
                <a:spcPts val="3039"/>
              </a:lnSpc>
              <a:buFont typeface="Arial"/>
              <a:buChar char="•"/>
            </a:pPr>
            <a:r>
              <a:rPr lang="en-US" b="true" sz="284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F1-Score (Weighted) :</a:t>
            </a:r>
            <a:r>
              <a:rPr lang="en-US" sz="284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99.44%</a:t>
            </a:r>
          </a:p>
          <a:p>
            <a:pPr algn="just" marL="613247" indent="-306624" lvl="1">
              <a:lnSpc>
                <a:spcPts val="3039"/>
              </a:lnSpc>
              <a:buFont typeface="Arial"/>
              <a:buChar char="•"/>
            </a:pPr>
            <a:r>
              <a:rPr lang="en-US" sz="284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Focus Classe "Négative" :</a:t>
            </a:r>
          </a:p>
          <a:p>
            <a:pPr algn="just" marL="1226494" indent="-408831" lvl="2">
              <a:lnSpc>
                <a:spcPts val="3039"/>
              </a:lnSpc>
              <a:buFont typeface="Arial"/>
              <a:buChar char="⚬"/>
            </a:pPr>
            <a:r>
              <a:rPr lang="en-US" b="true" sz="284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Précision :</a:t>
            </a:r>
            <a:r>
              <a:rPr lang="en-US" sz="284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1.00</a:t>
            </a:r>
          </a:p>
          <a:p>
            <a:pPr algn="just" marL="1226494" indent="-408831" lvl="2">
              <a:lnSpc>
                <a:spcPts val="3039"/>
              </a:lnSpc>
              <a:buFont typeface="Arial"/>
              <a:buChar char="⚬"/>
            </a:pPr>
            <a:r>
              <a:rPr lang="en-US" b="true" sz="284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Rappel (Recall) : </a:t>
            </a:r>
            <a:r>
              <a:rPr lang="en-US" sz="284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1.00</a:t>
            </a:r>
          </a:p>
          <a:p>
            <a:pPr algn="just" marL="613247" indent="-306624" lvl="1">
              <a:lnSpc>
                <a:spcPts val="3039"/>
              </a:lnSpc>
              <a:buFont typeface="Arial"/>
              <a:buChar char="•"/>
            </a:pPr>
            <a:r>
              <a:rPr lang="en-US" b="true" sz="2840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Interprétation :</a:t>
            </a:r>
            <a:r>
              <a:rPr lang="en-US" sz="2840">
                <a:solidFill>
                  <a:srgbClr val="433833"/>
                </a:solidFill>
                <a:latin typeface="DM Sans"/>
                <a:ea typeface="DM Sans"/>
                <a:cs typeface="DM Sans"/>
                <a:sym typeface="DM Sans"/>
              </a:rPr>
              <a:t> Le modèle ne rate plus aucun avis négatif dans ce jeu de données.</a:t>
            </a:r>
          </a:p>
          <a:p>
            <a:pPr algn="just">
              <a:lnSpc>
                <a:spcPts val="30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673601" y="981863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7143" y="1275725"/>
            <a:ext cx="16276458" cy="45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b="true" sz="3177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Le SVM est encore gagant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177" y="2859467"/>
            <a:ext cx="16354734" cy="181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33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Métrique : Moyenne sur 5 tests (K-Fold).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33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Score SVM : 90.00% (0.9000).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33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Évolution : On passe de ~68% (avant SMOTE) à 90%. 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33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 modèle est devenu très robuste.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77" y="1896946"/>
            <a:ext cx="12147640" cy="45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b="true" sz="3219">
                <a:solidFill>
                  <a:srgbClr val="433833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10925" y="1278004"/>
            <a:ext cx="417775" cy="418536"/>
          </a:xfrm>
          <a:custGeom>
            <a:avLst/>
            <a:gdLst/>
            <a:ahLst/>
            <a:cxnLst/>
            <a:rect r="r" b="b" t="t" l="l"/>
            <a:pathLst>
              <a:path h="418536" w="417775">
                <a:moveTo>
                  <a:pt x="0" y="0"/>
                </a:moveTo>
                <a:lnTo>
                  <a:pt x="417775" y="0"/>
                </a:lnTo>
                <a:lnTo>
                  <a:pt x="417775" y="418536"/>
                </a:lnTo>
                <a:lnTo>
                  <a:pt x="0" y="418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0019" y="6383675"/>
            <a:ext cx="15487962" cy="8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b="true" sz="6399" spc="14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Deploiement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700" y="1123950"/>
            <a:ext cx="1006565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4577199" y="6583757"/>
            <a:ext cx="1249403" cy="4114800"/>
          </a:xfrm>
          <a:custGeom>
            <a:avLst/>
            <a:gdLst/>
            <a:ahLst/>
            <a:cxnLst/>
            <a:rect r="r" b="b" t="t" l="l"/>
            <a:pathLst>
              <a:path h="4114800" w="1249403">
                <a:moveTo>
                  <a:pt x="0" y="0"/>
                </a:moveTo>
                <a:lnTo>
                  <a:pt x="1249402" y="0"/>
                </a:lnTo>
                <a:lnTo>
                  <a:pt x="12494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0135" y="398374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67690" y="1584808"/>
            <a:ext cx="16680478" cy="4321254"/>
            <a:chOff x="0" y="0"/>
            <a:chExt cx="3236778" cy="8385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36778" cy="838521"/>
            </a:xfrm>
            <a:custGeom>
              <a:avLst/>
              <a:gdLst/>
              <a:ahLst/>
              <a:cxnLst/>
              <a:rect r="r" b="b" t="t" l="l"/>
              <a:pathLst>
                <a:path h="838521" w="3236778">
                  <a:moveTo>
                    <a:pt x="25475" y="0"/>
                  </a:moveTo>
                  <a:lnTo>
                    <a:pt x="3211302" y="0"/>
                  </a:lnTo>
                  <a:cubicBezTo>
                    <a:pt x="3218059" y="0"/>
                    <a:pt x="3224539" y="2684"/>
                    <a:pt x="3229316" y="7462"/>
                  </a:cubicBezTo>
                  <a:cubicBezTo>
                    <a:pt x="3234094" y="12239"/>
                    <a:pt x="3236778" y="18719"/>
                    <a:pt x="3236778" y="25475"/>
                  </a:cubicBezTo>
                  <a:lnTo>
                    <a:pt x="3236778" y="813046"/>
                  </a:lnTo>
                  <a:cubicBezTo>
                    <a:pt x="3236778" y="819803"/>
                    <a:pt x="3234094" y="826282"/>
                    <a:pt x="3229316" y="831060"/>
                  </a:cubicBezTo>
                  <a:cubicBezTo>
                    <a:pt x="3224539" y="835837"/>
                    <a:pt x="3218059" y="838521"/>
                    <a:pt x="3211302" y="838521"/>
                  </a:cubicBezTo>
                  <a:lnTo>
                    <a:pt x="25475" y="838521"/>
                  </a:lnTo>
                  <a:cubicBezTo>
                    <a:pt x="18719" y="838521"/>
                    <a:pt x="12239" y="835837"/>
                    <a:pt x="7462" y="831060"/>
                  </a:cubicBezTo>
                  <a:cubicBezTo>
                    <a:pt x="2684" y="826282"/>
                    <a:pt x="0" y="819803"/>
                    <a:pt x="0" y="813046"/>
                  </a:cubicBezTo>
                  <a:lnTo>
                    <a:pt x="0" y="25475"/>
                  </a:lnTo>
                  <a:cubicBezTo>
                    <a:pt x="0" y="18719"/>
                    <a:pt x="2684" y="12239"/>
                    <a:pt x="7462" y="7462"/>
                  </a:cubicBezTo>
                  <a:cubicBezTo>
                    <a:pt x="12239" y="2684"/>
                    <a:pt x="18719" y="0"/>
                    <a:pt x="2547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114300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236778" cy="886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4533" y="9127124"/>
            <a:ext cx="1089431" cy="865603"/>
          </a:xfrm>
          <a:custGeom>
            <a:avLst/>
            <a:gdLst/>
            <a:ahLst/>
            <a:cxnLst/>
            <a:rect r="r" b="b" t="t" l="l"/>
            <a:pathLst>
              <a:path h="865603" w="1089431">
                <a:moveTo>
                  <a:pt x="0" y="0"/>
                </a:moveTo>
                <a:lnTo>
                  <a:pt x="1089431" y="0"/>
                </a:lnTo>
                <a:lnTo>
                  <a:pt x="1089431" y="865602"/>
                </a:lnTo>
                <a:lnTo>
                  <a:pt x="0" y="865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7528" y="1885530"/>
            <a:ext cx="15764908" cy="3719810"/>
          </a:xfrm>
          <a:custGeom>
            <a:avLst/>
            <a:gdLst/>
            <a:ahLst/>
            <a:cxnLst/>
            <a:rect r="r" b="b" t="t" l="l"/>
            <a:pathLst>
              <a:path h="3719810" w="15764908">
                <a:moveTo>
                  <a:pt x="0" y="0"/>
                </a:moveTo>
                <a:lnTo>
                  <a:pt x="15764908" y="0"/>
                </a:lnTo>
                <a:lnTo>
                  <a:pt x="15764908" y="3719810"/>
                </a:lnTo>
                <a:lnTo>
                  <a:pt x="0" y="3719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7825" y="387688"/>
            <a:ext cx="4414647" cy="61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25"/>
              </a:lnSpc>
              <a:spcBef>
                <a:spcPct val="0"/>
              </a:spcBef>
            </a:pP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Test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e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Temps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Réel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447" y="898058"/>
            <a:ext cx="15940444" cy="52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Nous avons soumis au modèle des avis inédits pour valider sa compréhension des concepts clés.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7825" y="6382312"/>
            <a:ext cx="8427601" cy="164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Détecti</a:t>
            </a: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 correcte des termes valorisants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Identificationdu contenu factuel et non-émotionnel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Reaction aux mots clés avec succès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44533" y="6372787"/>
            <a:ext cx="693388" cy="694651"/>
          </a:xfrm>
          <a:custGeom>
            <a:avLst/>
            <a:gdLst/>
            <a:ahLst/>
            <a:cxnLst/>
            <a:rect r="r" b="b" t="t" l="l"/>
            <a:pathLst>
              <a:path h="694651" w="693388">
                <a:moveTo>
                  <a:pt x="0" y="0"/>
                </a:moveTo>
                <a:lnTo>
                  <a:pt x="693388" y="0"/>
                </a:lnTo>
                <a:lnTo>
                  <a:pt x="693388" y="694651"/>
                </a:lnTo>
                <a:lnTo>
                  <a:pt x="0" y="6946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0135" y="398374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67690" y="1584808"/>
            <a:ext cx="16435873" cy="7469554"/>
            <a:chOff x="0" y="0"/>
            <a:chExt cx="4118690" cy="18718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18690" cy="1871806"/>
            </a:xfrm>
            <a:custGeom>
              <a:avLst/>
              <a:gdLst/>
              <a:ahLst/>
              <a:cxnLst/>
              <a:rect r="r" b="b" t="t" l="l"/>
              <a:pathLst>
                <a:path h="1871806" w="4118690">
                  <a:moveTo>
                    <a:pt x="25854" y="0"/>
                  </a:moveTo>
                  <a:lnTo>
                    <a:pt x="4092835" y="0"/>
                  </a:lnTo>
                  <a:cubicBezTo>
                    <a:pt x="4107114" y="0"/>
                    <a:pt x="4118690" y="11575"/>
                    <a:pt x="4118690" y="25854"/>
                  </a:cubicBezTo>
                  <a:lnTo>
                    <a:pt x="4118690" y="1845952"/>
                  </a:lnTo>
                  <a:cubicBezTo>
                    <a:pt x="4118690" y="1852809"/>
                    <a:pt x="4115966" y="1859385"/>
                    <a:pt x="4111117" y="1864234"/>
                  </a:cubicBezTo>
                  <a:cubicBezTo>
                    <a:pt x="4106268" y="1869083"/>
                    <a:pt x="4099692" y="1871806"/>
                    <a:pt x="4092835" y="1871806"/>
                  </a:cubicBezTo>
                  <a:lnTo>
                    <a:pt x="25854" y="1871806"/>
                  </a:lnTo>
                  <a:cubicBezTo>
                    <a:pt x="18997" y="1871806"/>
                    <a:pt x="12421" y="1869083"/>
                    <a:pt x="7573" y="1864234"/>
                  </a:cubicBezTo>
                  <a:cubicBezTo>
                    <a:pt x="2724" y="1859385"/>
                    <a:pt x="0" y="1852809"/>
                    <a:pt x="0" y="1845952"/>
                  </a:cubicBezTo>
                  <a:lnTo>
                    <a:pt x="0" y="25854"/>
                  </a:lnTo>
                  <a:cubicBezTo>
                    <a:pt x="0" y="18997"/>
                    <a:pt x="2724" y="12421"/>
                    <a:pt x="7573" y="7573"/>
                  </a:cubicBezTo>
                  <a:cubicBezTo>
                    <a:pt x="12421" y="2724"/>
                    <a:pt x="18997" y="0"/>
                    <a:pt x="25854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114300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18690" cy="1919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4533" y="9127124"/>
            <a:ext cx="1089431" cy="865603"/>
          </a:xfrm>
          <a:custGeom>
            <a:avLst/>
            <a:gdLst/>
            <a:ahLst/>
            <a:cxnLst/>
            <a:rect r="r" b="b" t="t" l="l"/>
            <a:pathLst>
              <a:path h="865603" w="1089431">
                <a:moveTo>
                  <a:pt x="0" y="0"/>
                </a:moveTo>
                <a:lnTo>
                  <a:pt x="1089431" y="0"/>
                </a:lnTo>
                <a:lnTo>
                  <a:pt x="1089431" y="865602"/>
                </a:lnTo>
                <a:lnTo>
                  <a:pt x="0" y="865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7825" y="387688"/>
            <a:ext cx="9325940" cy="61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25"/>
              </a:lnSpc>
              <a:spcBef>
                <a:spcPct val="0"/>
              </a:spcBef>
            </a:pPr>
            <a:r>
              <a:rPr lang="en-US" b="true" sz="326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Limit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 &amp; A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élioration</a:t>
            </a:r>
            <a:r>
              <a:rPr lang="en-US" b="true" sz="3265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 Futures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4533" y="2009106"/>
            <a:ext cx="15875520" cy="726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8"/>
              </a:lnSpc>
            </a:pPr>
            <a:r>
              <a:rPr lang="en-US" sz="276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Les Freins Actuels</a:t>
            </a:r>
          </a:p>
          <a:p>
            <a:pPr algn="ctr">
              <a:lnSpc>
                <a:spcPts val="4428"/>
              </a:lnSpc>
            </a:pPr>
            <a:r>
              <a:rPr lang="en-US" sz="27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Données : Volume critique (201 avis) + Bruit dans les labels (TextBlob).</a:t>
            </a:r>
          </a:p>
          <a:p>
            <a:pPr algn="ctr">
              <a:lnSpc>
                <a:spcPts val="4428"/>
              </a:lnSpc>
            </a:pPr>
            <a:r>
              <a:rPr lang="en-US" sz="27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Technique : Le SVM (TF-IDF) ignore le contexte (ironie, double négation)</a:t>
            </a:r>
          </a:p>
          <a:p>
            <a:pPr algn="ctr">
              <a:lnSpc>
                <a:spcPts val="4428"/>
              </a:lnSpc>
            </a:pPr>
            <a:r>
              <a:rPr lang="en-US" sz="276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Les Solutions Futures </a:t>
            </a:r>
          </a:p>
          <a:p>
            <a:pPr algn="ctr">
              <a:lnSpc>
                <a:spcPts val="4428"/>
              </a:lnSpc>
            </a:pPr>
            <a:r>
              <a:rPr lang="en-US" sz="27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Industrialisation : Scraper 2000+ avis pour combler les trous de vocabulaire.</a:t>
            </a:r>
          </a:p>
          <a:p>
            <a:pPr algn="ctr">
              <a:lnSpc>
                <a:spcPts val="4428"/>
              </a:lnSpc>
            </a:pPr>
            <a:r>
              <a:rPr lang="en-US" sz="27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Intelligence : Passer au Deep Learning (CamemBERTpar exemple) pour comprendre les nuances et faire du NLP robuste.</a:t>
            </a:r>
          </a:p>
          <a:p>
            <a:pPr algn="ctr">
              <a:lnSpc>
                <a:spcPts val="4428"/>
              </a:lnSpc>
            </a:pPr>
            <a:r>
              <a:rPr lang="en-US" sz="276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Topic Modeling : Clustering Non-Supervisé</a:t>
            </a:r>
          </a:p>
          <a:p>
            <a:pPr algn="ctr">
              <a:lnSpc>
                <a:spcPts val="4428"/>
              </a:lnSpc>
            </a:pPr>
            <a:r>
              <a:rPr lang="en-US" sz="276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Utiliser des algorithmes (type LDA ou K-Means) pour grouper automatiquement les avis par sujets dominants : Propreté, Service, Restauration, Isolation.==&gt; Identifier précisément les causes de satisfaction ou de plainte, au-delà du simple score positif/négatif.</a:t>
            </a:r>
          </a:p>
          <a:p>
            <a:pPr algn="ctr">
              <a:lnSpc>
                <a:spcPts val="4428"/>
              </a:lnSpc>
            </a:pPr>
          </a:p>
          <a:p>
            <a:pPr algn="ctr" marL="0" indent="0" lvl="0">
              <a:lnSpc>
                <a:spcPts val="44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45438" y="2973851"/>
            <a:ext cx="11604649" cy="269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9"/>
              </a:lnSpc>
            </a:pPr>
            <a:r>
              <a:rPr lang="en-US" sz="219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MERCI !</a:t>
            </a:r>
          </a:p>
        </p:txBody>
      </p:sp>
      <p:sp>
        <p:nvSpPr>
          <p:cNvPr name="AutoShape 3" id="3"/>
          <p:cNvSpPr/>
          <p:nvPr/>
        </p:nvSpPr>
        <p:spPr>
          <a:xfrm flipH="true" flipV="true">
            <a:off x="2345438" y="1565979"/>
            <a:ext cx="1632016" cy="0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17164050" y="8810213"/>
            <a:ext cx="0" cy="1632016"/>
          </a:xfrm>
          <a:prstGeom prst="line">
            <a:avLst/>
          </a:prstGeom>
          <a:ln cap="flat" w="1905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72545" y="8760618"/>
            <a:ext cx="1089431" cy="865603"/>
          </a:xfrm>
          <a:custGeom>
            <a:avLst/>
            <a:gdLst/>
            <a:ahLst/>
            <a:cxnLst/>
            <a:rect r="r" b="b" t="t" l="l"/>
            <a:pathLst>
              <a:path h="865603" w="1089431">
                <a:moveTo>
                  <a:pt x="0" y="0"/>
                </a:moveTo>
                <a:lnTo>
                  <a:pt x="1089431" y="0"/>
                </a:lnTo>
                <a:lnTo>
                  <a:pt x="1089431" y="865603"/>
                </a:lnTo>
                <a:lnTo>
                  <a:pt x="0" y="865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DAG62xacmdE</dc:identifier>
  <dcterms:modified xsi:type="dcterms:W3CDTF">2011-08-01T06:04:30Z</dcterms:modified>
  <cp:revision>1</cp:revision>
  <dc:title>Sentiment Analysis ML Project</dc:title>
</cp:coreProperties>
</file>